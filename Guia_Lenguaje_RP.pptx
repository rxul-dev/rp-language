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9ada4a10-9d4a-878b-9583-e33e5c0ed29b}">
          <p14:sldIdLst>
            <p14:sldId id="256"/>
            <p14:sldId id="257"/>
          </p14:sldIdLst>
        </p14:section>
        <p14:section name="Ejecutar" id="{edbf1e70-fce4-0e63-c6bb-06b727071289}">
          <p14:sldIdLst>
            <p14:sldId id="258"/>
            <p14:sldId id="259"/>
            <p14:sldId id="260"/>
          </p14:sldIdLst>
        </p14:section>
        <p14:section name="Instrucciones" id="{58f3a7c2-7255-ed60-77a3-cbeb016d9079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ractica" id="{3d2729e1-bd7c-b351-a146-a46adae847e5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ierre" id="{1a2c19df-6757-0d91-7f40-2948402f2985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guía explica, paso a paso, cómo usar el lenguaje RP: cómo ejecutarlo, sus tres instrucciones, sus tipos de dato y cómo leer los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 es un lenguaje pequeño con palabras chapinas. Cada instrucción va en su propia línea y no hay que escribir el tipo de dato: RP lo deduce por la forma del valor. A la derecha se ve cada instrucción de RP junto a su equivalente en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Primero: cómo preparar todo y ejecutar un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usar RP hay que compilar el lenguaje una sola vez. Se abre la Terminal, se entra a la carpeta del proyecto con cd y se escribe make. Eso crea el programa rp. En Windows es igual, pero se compila con compilar.bat.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tres formas de ejecutar un programa RP: desde la Terminal con ./rp y el nombre del archivo, con doble clic en el archivo, o desde VS Code con el botón de play. Normalmente solo se ve el resultado; con la opción -f se ven también todas las fases del compilador.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 tiene solo tres instrucciones.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crear una variable se escribe fijate que, el nombre, y opcionalmente es con el valor. Si no se le da valor, queda vacía, con el valor ni maiz. Una variable se crea una sola vez; si se repite, el compilador da un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cambiar el valor de una variable se usa ponele, el valor, la palabra a y el nombre. Como diría un chapín: ponele 20 a la edad. El valor también puede ser otra variable. La variable tiene que haberse creado antes con fijate 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onda muestra el tipo de una variable. Ojo: no muestra su contenido. Para la variable con el texto Ana muestra chisme, que es el tipo texto. Si se quiere ver el valor, se ejecuta el programa con -f y al final aparece la tabla de memoria. También se ve que una variable puede cambiar de 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 tiene cinco tipos con nombres chapines: cabal para enteros, con vuelto para decimales, chisme para texto, simonel para sí o no, y ni maiz para vacío. Nunca se escribe el tipo: RP lo deduce por la forma del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nombres de variables empiezan con letra o guion bajo y luego pueden llevar letras, números o guiones bajos. Se permiten la ñ y las tildes. No pueden tener espacios ni símbolos, ni ser una palabra reservada del lenguaje.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a practicar.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tu primer programa: crea un archivo con extensión .rp dentro de la carpeta del proyecto, escribe el código de la derecha, guarda y ejecútalo con ./rp. El resultado son los tipos de las dos consultas: chisme y con vuelto.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un error, el compilador dice la fase, la línea, la columna y cómo arreglarlo, y no ejecuta el programa. Hay tres tipos: léxico cuando una palabra está mal escrita, sintáctico cuando una instrucción está mal armada y semántico cuando no tiene sentido, como usar una variable que no existe. Se corrige, se guarda y se vuelve a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modo interactivo sirve para practicar sin crear archivos. Se abre con ./rp -i y cada instrucción se ejecuta al presionar Enter. Con :tabla se ven las variables, con :memoria sus valores, con :ast el árbol de la última línea y con :salir se termina.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dentro, el compilador trabaja en cuatro fases. El léxico separa el texto en piezas llamadas tokens. El sintáctico revisa el orden y arma un árbol. El semántico revisa que todo tenga sentido y anota las variables en la tabla de símbolos. Por último se ejecuta el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resumen: tres instrucciones, fijate que para crear, ponele para cambiar y que onda para ver el tipo, más los comentarios con numeral. Y cuatro comandos: make para compilar, ./rp para ver el resultado, con -f para ver las fases, y -i para el modo interactivo.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esto ya se puede usar RP. Todos los detalles están en el README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572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Lenguaje RP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Guía rápida para usarlo y entenderlo</a:t>
            </a:r>
            <a:endParaRPr lang="en-US" sz="2000" dirty="0"/>
          </a:p>
        </p:txBody>
      </p:sp>
      <p:pic>
        <p:nvPicPr>
          <p:cNvPr id="4" name="logo" descr="/Users/rxul/dev/lenguaje-rp-c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344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¿Qué es RP?</a:t>
            </a:r>
            <a:endParaRPr lang="en-US" sz="3200" dirty="0"/>
          </a:p>
        </p:txBody>
      </p:sp>
      <p:sp>
        <p:nvSpPr>
          <p:cNvPr id="3" name="texto-1"/>
          <p:cNvSpPr txBox="1"/>
          <p:nvPr/>
        </p:nvSpPr>
        <p:spPr>
          <a:xfrm>
            <a:off x="457200" y="1143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 lenguaje de programación pequeño que usa palabras chapinas, el español de Guatemala.</a:t>
            </a:r>
            <a:endParaRPr lang="en-US" sz="1700" dirty="0"/>
          </a:p>
        </p:txBody>
      </p:sp>
      <p:sp>
        <p:nvSpPr>
          <p:cNvPr id="4" name="texto-2"/>
          <p:cNvSpPr txBox="1"/>
          <p:nvPr/>
        </p:nvSpPr>
        <p:spPr>
          <a:xfrm>
            <a:off x="457200" y="21488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instrucción por línea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hay que escribir el tipo de dato: RP lo adivina solo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 lo que va después de # es un comentario</a:t>
            </a:r>
            <a:endParaRPr lang="en-US" sz="1500" dirty="0"/>
          </a:p>
        </p:txBody>
      </p:sp>
      <p:sp>
        <p:nvSpPr>
          <p:cNvPr id="5" name="texto-3"/>
          <p:cNvSpPr txBox="1"/>
          <p:nvPr/>
        </p:nvSpPr>
        <p:spPr>
          <a:xfrm>
            <a:off x="452628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En RP</a:t>
            </a:r>
            <a:endParaRPr lang="en-US" sz="1400" dirty="0"/>
          </a:p>
        </p:txBody>
      </p:sp>
      <p:sp>
        <p:nvSpPr>
          <p:cNvPr id="6" name="texto-4"/>
          <p:cNvSpPr txBox="1"/>
          <p:nvPr/>
        </p:nvSpPr>
        <p:spPr>
          <a:xfrm>
            <a:off x="7178040" y="1143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En Python</a:t>
            </a:r>
            <a:endParaRPr lang="en-US" sz="1400" dirty="0"/>
          </a:p>
        </p:txBody>
      </p:sp>
      <p:sp>
        <p:nvSpPr>
          <p:cNvPr id="7" name="codigo-fondo-5"/>
          <p:cNvSpPr/>
          <p:nvPr/>
        </p:nvSpPr>
        <p:spPr>
          <a:xfrm>
            <a:off x="4526280" y="1554480"/>
            <a:ext cx="2514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8" name="codigo-6"/>
          <p:cNvSpPr txBox="1"/>
          <p:nvPr/>
        </p:nvSpPr>
        <p:spPr>
          <a:xfrm>
            <a:off x="4690872" y="155448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edad es 19</a:t>
            </a:r>
            <a:endParaRPr lang="en-US" sz="1200" dirty="0"/>
          </a:p>
        </p:txBody>
      </p:sp>
      <p:sp>
        <p:nvSpPr>
          <p:cNvPr id="9" name="tarjeta-7"/>
          <p:cNvSpPr/>
          <p:nvPr/>
        </p:nvSpPr>
        <p:spPr>
          <a:xfrm>
            <a:off x="7178040" y="1554480"/>
            <a:ext cx="15087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o-8"/>
          <p:cNvSpPr txBox="1"/>
          <p:nvPr/>
        </p:nvSpPr>
        <p:spPr>
          <a:xfrm>
            <a:off x="7315200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19</a:t>
            </a:r>
            <a:endParaRPr lang="en-US" sz="1200" dirty="0"/>
          </a:p>
        </p:txBody>
      </p:sp>
      <p:sp>
        <p:nvSpPr>
          <p:cNvPr id="11" name="codigo-fondo-9"/>
          <p:cNvSpPr/>
          <p:nvPr/>
        </p:nvSpPr>
        <p:spPr>
          <a:xfrm>
            <a:off x="4526280" y="2423160"/>
            <a:ext cx="2514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12" name="codigo-10"/>
          <p:cNvSpPr txBox="1"/>
          <p:nvPr/>
        </p:nvSpPr>
        <p:spPr>
          <a:xfrm>
            <a:off x="4690872" y="242316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20 a edad</a:t>
            </a:r>
            <a:endParaRPr lang="en-US" sz="1200" dirty="0"/>
          </a:p>
        </p:txBody>
      </p:sp>
      <p:sp>
        <p:nvSpPr>
          <p:cNvPr id="13" name="tarjeta-11"/>
          <p:cNvSpPr/>
          <p:nvPr/>
        </p:nvSpPr>
        <p:spPr>
          <a:xfrm>
            <a:off x="7178040" y="2423160"/>
            <a:ext cx="15087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4" name="texto-12"/>
          <p:cNvSpPr txBox="1"/>
          <p:nvPr/>
        </p:nvSpPr>
        <p:spPr>
          <a:xfrm>
            <a:off x="7315200" y="24231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20</a:t>
            </a:r>
            <a:endParaRPr lang="en-US" sz="1200" dirty="0"/>
          </a:p>
        </p:txBody>
      </p:sp>
      <p:sp>
        <p:nvSpPr>
          <p:cNvPr id="15" name="codigo-fondo-13"/>
          <p:cNvSpPr/>
          <p:nvPr/>
        </p:nvSpPr>
        <p:spPr>
          <a:xfrm>
            <a:off x="4526280" y="3291840"/>
            <a:ext cx="251460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16" name="codigo-14"/>
          <p:cNvSpPr txBox="1"/>
          <p:nvPr/>
        </p:nvSpPr>
        <p:spPr>
          <a:xfrm>
            <a:off x="4690872" y="329184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onda edad</a:t>
            </a:r>
            <a:endParaRPr lang="en-US" sz="1200" dirty="0"/>
          </a:p>
        </p:txBody>
      </p:sp>
      <p:sp>
        <p:nvSpPr>
          <p:cNvPr id="17" name="tarjeta-15"/>
          <p:cNvSpPr/>
          <p:nvPr/>
        </p:nvSpPr>
        <p:spPr>
          <a:xfrm>
            <a:off x="7178040" y="3291840"/>
            <a:ext cx="15087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8" name="texto-16"/>
          <p:cNvSpPr txBox="1"/>
          <p:nvPr/>
        </p:nvSpPr>
        <p:spPr>
          <a:xfrm>
            <a:off x="7315200" y="3291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type(edad)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Preparar y ejecutar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Lo que se hace una sola vez y cómo correr un programa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Prepárate una sola vez</a:t>
            </a:r>
            <a:endParaRPr lang="en-US" sz="3200" dirty="0"/>
          </a:p>
        </p:txBody>
      </p:sp>
      <p:sp>
        <p:nvSpPr>
          <p:cNvPr id="3" name="tarjeta-17"/>
          <p:cNvSpPr/>
          <p:nvPr/>
        </p:nvSpPr>
        <p:spPr>
          <a:xfrm>
            <a:off x="457200" y="1143000"/>
            <a:ext cx="26517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circulo-18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irculo-texto-19"/>
          <p:cNvSpPr txBox="1"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o-20"/>
          <p:cNvSpPr txBox="1"/>
          <p:nvPr/>
        </p:nvSpPr>
        <p:spPr>
          <a:xfrm>
            <a:off x="6858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Abre la Terminal</a:t>
            </a:r>
            <a:endParaRPr lang="en-US" sz="1700" dirty="0"/>
          </a:p>
        </p:txBody>
      </p:sp>
      <p:sp>
        <p:nvSpPr>
          <p:cNvPr id="7" name="texto-21"/>
          <p:cNvSpPr txBox="1"/>
          <p:nvPr/>
        </p:nvSpPr>
        <p:spPr>
          <a:xfrm>
            <a:off x="685800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Cmd + Espacio, escribe Terminal y presiona Enter</a:t>
            </a:r>
            <a:endParaRPr lang="en-US" sz="1400" dirty="0"/>
          </a:p>
        </p:txBody>
      </p:sp>
      <p:sp>
        <p:nvSpPr>
          <p:cNvPr id="8" name="tarjeta-22"/>
          <p:cNvSpPr/>
          <p:nvPr/>
        </p:nvSpPr>
        <p:spPr>
          <a:xfrm>
            <a:off x="3291840" y="1143000"/>
            <a:ext cx="26517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circulo-23"/>
          <p:cNvSpPr/>
          <p:nvPr/>
        </p:nvSpPr>
        <p:spPr>
          <a:xfrm>
            <a:off x="352044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irculo-texto-24"/>
          <p:cNvSpPr txBox="1"/>
          <p:nvPr/>
        </p:nvSpPr>
        <p:spPr>
          <a:xfrm>
            <a:off x="35204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o-25"/>
          <p:cNvSpPr txBox="1"/>
          <p:nvPr/>
        </p:nvSpPr>
        <p:spPr>
          <a:xfrm>
            <a:off x="352044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Entra a la carpeta</a:t>
            </a:r>
            <a:endParaRPr lang="en-US" sz="1700" dirty="0"/>
          </a:p>
        </p:txBody>
      </p:sp>
      <p:sp>
        <p:nvSpPr>
          <p:cNvPr id="12" name="texto-26"/>
          <p:cNvSpPr txBox="1"/>
          <p:nvPr/>
        </p:nvSpPr>
        <p:spPr>
          <a:xfrm>
            <a:off x="3520440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Escribe esto y presiona Enter:</a:t>
            </a:r>
            <a:endParaRPr lang="en-US" sz="1400" dirty="0"/>
          </a:p>
        </p:txBody>
      </p:sp>
      <p:sp>
        <p:nvSpPr>
          <p:cNvPr id="13" name="codigo-fondo-27"/>
          <p:cNvSpPr/>
          <p:nvPr/>
        </p:nvSpPr>
        <p:spPr>
          <a:xfrm>
            <a:off x="3474720" y="3017520"/>
            <a:ext cx="22860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4" name="codigo-28"/>
          <p:cNvSpPr txBox="1"/>
          <p:nvPr/>
        </p:nvSpPr>
        <p:spPr>
          <a:xfrm>
            <a:off x="3639312" y="3017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~/dev/lenguaje-rp-c</a:t>
            </a:r>
            <a:endParaRPr lang="en-US" sz="1100" dirty="0"/>
          </a:p>
        </p:txBody>
      </p:sp>
      <p:sp>
        <p:nvSpPr>
          <p:cNvPr id="15" name="tarjeta-29"/>
          <p:cNvSpPr/>
          <p:nvPr/>
        </p:nvSpPr>
        <p:spPr>
          <a:xfrm>
            <a:off x="6126480" y="1143000"/>
            <a:ext cx="26517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circulo-30"/>
          <p:cNvSpPr/>
          <p:nvPr/>
        </p:nvSpPr>
        <p:spPr>
          <a:xfrm>
            <a:off x="63550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irculo-texto-31"/>
          <p:cNvSpPr txBox="1"/>
          <p:nvPr/>
        </p:nvSpPr>
        <p:spPr>
          <a:xfrm>
            <a:off x="63550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o-32"/>
          <p:cNvSpPr txBox="1"/>
          <p:nvPr/>
        </p:nvSpPr>
        <p:spPr>
          <a:xfrm>
            <a:off x="635508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Compila el lenguaje</a:t>
            </a:r>
            <a:endParaRPr lang="en-US" sz="1700" dirty="0"/>
          </a:p>
        </p:txBody>
      </p:sp>
      <p:sp>
        <p:nvSpPr>
          <p:cNvPr id="19" name="texto-33"/>
          <p:cNvSpPr txBox="1"/>
          <p:nvPr/>
        </p:nvSpPr>
        <p:spPr>
          <a:xfrm>
            <a:off x="6355080" y="2423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 el programa rp. Solo se hace una vez:</a:t>
            </a:r>
            <a:endParaRPr lang="en-US" sz="1400" dirty="0"/>
          </a:p>
        </p:txBody>
      </p:sp>
      <p:sp>
        <p:nvSpPr>
          <p:cNvPr id="20" name="codigo-fondo-34"/>
          <p:cNvSpPr/>
          <p:nvPr/>
        </p:nvSpPr>
        <p:spPr>
          <a:xfrm>
            <a:off x="6309360" y="3017520"/>
            <a:ext cx="22860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1" name="codigo-35"/>
          <p:cNvSpPr txBox="1"/>
          <p:nvPr/>
        </p:nvSpPr>
        <p:spPr>
          <a:xfrm>
            <a:off x="6473952" y="3017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100" dirty="0"/>
          </a:p>
        </p:txBody>
      </p:sp>
      <p:sp>
        <p:nvSpPr>
          <p:cNvPr id="22" name="tarjeta-36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23" name="circulo-37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circulo-texto-38"/>
          <p:cNvSpPr txBox="1"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5" name="texto-39"/>
          <p:cNvSpPr txBox="1"/>
          <p:nvPr/>
        </p:nvSpPr>
        <p:spPr>
          <a:xfrm>
            <a:off x="1325880" y="384048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Windows: abre PowerShell, entra a la carpeta con cd y compila con .\compilar.bat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Tres formas de ejecutar un programa</a:t>
            </a:r>
            <a:endParaRPr lang="en-US" sz="3200" dirty="0"/>
          </a:p>
        </p:txBody>
      </p:sp>
      <p:sp>
        <p:nvSpPr>
          <p:cNvPr id="3" name="tarjeta-40"/>
          <p:cNvSpPr/>
          <p:nvPr/>
        </p:nvSpPr>
        <p:spPr>
          <a:xfrm>
            <a:off x="457200" y="11430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circulo-41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irculo-texto-42"/>
          <p:cNvSpPr txBox="1"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o-43"/>
          <p:cNvSpPr txBox="1"/>
          <p:nvPr/>
        </p:nvSpPr>
        <p:spPr>
          <a:xfrm>
            <a:off x="6858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Terminal</a:t>
            </a:r>
            <a:endParaRPr lang="en-US" sz="1800" dirty="0"/>
          </a:p>
        </p:txBody>
      </p:sp>
      <p:sp>
        <p:nvSpPr>
          <p:cNvPr id="7" name="texto-44"/>
          <p:cNvSpPr txBox="1"/>
          <p:nvPr/>
        </p:nvSpPr>
        <p:spPr>
          <a:xfrm>
            <a:off x="68580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Escribe el nombre del archivo:</a:t>
            </a:r>
            <a:endParaRPr lang="en-US" sz="1400" dirty="0"/>
          </a:p>
        </p:txBody>
      </p:sp>
      <p:sp>
        <p:nvSpPr>
          <p:cNvPr id="8" name="codigo-fondo-45"/>
          <p:cNvSpPr/>
          <p:nvPr/>
        </p:nvSpPr>
        <p:spPr>
          <a:xfrm>
            <a:off x="640080" y="2834640"/>
            <a:ext cx="22860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9" name="codigo-46"/>
          <p:cNvSpPr txBox="1"/>
          <p:nvPr/>
        </p:nvSpPr>
        <p:spPr>
          <a:xfrm>
            <a:off x="804672" y="28346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./rp archivo.rp</a:t>
            </a:r>
            <a:endParaRPr lang="en-US" sz="1200" dirty="0"/>
          </a:p>
        </p:txBody>
      </p:sp>
      <p:sp>
        <p:nvSpPr>
          <p:cNvPr id="10" name="tarjeta-47"/>
          <p:cNvSpPr/>
          <p:nvPr/>
        </p:nvSpPr>
        <p:spPr>
          <a:xfrm>
            <a:off x="3291840" y="11430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circulo-48"/>
          <p:cNvSpPr/>
          <p:nvPr/>
        </p:nvSpPr>
        <p:spPr>
          <a:xfrm>
            <a:off x="352044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circulo-texto-49"/>
          <p:cNvSpPr txBox="1"/>
          <p:nvPr/>
        </p:nvSpPr>
        <p:spPr>
          <a:xfrm>
            <a:off x="35204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o-50"/>
          <p:cNvSpPr txBox="1"/>
          <p:nvPr/>
        </p:nvSpPr>
        <p:spPr>
          <a:xfrm>
            <a:off x="352044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Doble clic</a:t>
            </a:r>
            <a:endParaRPr lang="en-US" sz="1800" dirty="0"/>
          </a:p>
        </p:txBody>
      </p:sp>
      <p:sp>
        <p:nvSpPr>
          <p:cNvPr id="14" name="texto-51"/>
          <p:cNvSpPr txBox="1"/>
          <p:nvPr/>
        </p:nvSpPr>
        <p:spPr>
          <a:xfrm>
            <a:off x="352044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el Finder, doble clic en el archivo .rp: se abre la Terminal y lo ejecuta.</a:t>
            </a:r>
            <a:endParaRPr lang="en-US" sz="1400" dirty="0"/>
          </a:p>
        </p:txBody>
      </p:sp>
      <p:sp>
        <p:nvSpPr>
          <p:cNvPr id="15" name="tarjeta-52"/>
          <p:cNvSpPr/>
          <p:nvPr/>
        </p:nvSpPr>
        <p:spPr>
          <a:xfrm>
            <a:off x="6126480" y="11430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circulo-53"/>
          <p:cNvSpPr/>
          <p:nvPr/>
        </p:nvSpPr>
        <p:spPr>
          <a:xfrm>
            <a:off x="63550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irculo-texto-54"/>
          <p:cNvSpPr txBox="1"/>
          <p:nvPr/>
        </p:nvSpPr>
        <p:spPr>
          <a:xfrm>
            <a:off x="63550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o-55"/>
          <p:cNvSpPr txBox="1"/>
          <p:nvPr/>
        </p:nvSpPr>
        <p:spPr>
          <a:xfrm>
            <a:off x="635508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VS Code</a:t>
            </a:r>
            <a:endParaRPr lang="en-US" sz="1800" dirty="0"/>
          </a:p>
        </p:txBody>
      </p:sp>
      <p:sp>
        <p:nvSpPr>
          <p:cNvPr id="19" name="texto-56"/>
          <p:cNvSpPr txBox="1"/>
          <p:nvPr/>
        </p:nvSpPr>
        <p:spPr>
          <a:xfrm>
            <a:off x="6355080" y="2423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Abre el archivo y presiona el botón ▶ de arriba a la derecha, o F5.</a:t>
            </a:r>
            <a:endParaRPr lang="en-US" sz="1400" dirty="0"/>
          </a:p>
        </p:txBody>
      </p:sp>
      <p:sp>
        <p:nvSpPr>
          <p:cNvPr id="20" name="tarjeta-57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1" name="texto-58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Así se ve solo el resultado. Agrega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al final para ver también cómo trabaja el compilador por dentro: tokens, árbol y tabla de símbolos.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Las tres instrucciones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Todo lo que se puede hacer en RP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Crear una variable: fijate que</a:t>
            </a:r>
            <a:endParaRPr lang="en-US" sz="3200" dirty="0"/>
          </a:p>
        </p:txBody>
      </p:sp>
      <p:sp>
        <p:nvSpPr>
          <p:cNvPr id="3" name="texto-59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usa para crear una variable nueva. La palabra es funciona como el = de Python.</a:t>
            </a:r>
            <a:endParaRPr lang="en-US" sz="1600" dirty="0"/>
          </a:p>
        </p:txBody>
      </p:sp>
      <p:sp>
        <p:nvSpPr>
          <p:cNvPr id="4" name="codigo-fondo-60"/>
          <p:cNvSpPr/>
          <p:nvPr/>
        </p:nvSpPr>
        <p:spPr>
          <a:xfrm>
            <a:off x="457200" y="173736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" name="codigo-61"/>
          <p:cNvSpPr txBox="1"/>
          <p:nvPr/>
        </p:nvSpPr>
        <p:spPr>
          <a:xfrm>
            <a:off x="621792" y="173736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edad es 19</a:t>
            </a:r>
            <a:endParaRPr lang="en-US" sz="1400" dirty="0"/>
          </a:p>
        </p:txBody>
      </p:sp>
      <p:sp>
        <p:nvSpPr>
          <p:cNvPr id="6" name="texto-62"/>
          <p:cNvSpPr txBox="1"/>
          <p:nvPr/>
        </p:nvSpPr>
        <p:spPr>
          <a:xfrm>
            <a:off x="438912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texto-63"/>
          <p:cNvSpPr txBox="1"/>
          <p:nvPr/>
        </p:nvSpPr>
        <p:spPr>
          <a:xfrm>
            <a:off x="4846320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 edad con el valor 19</a:t>
            </a:r>
            <a:endParaRPr lang="en-US" sz="1500" dirty="0"/>
          </a:p>
        </p:txBody>
      </p:sp>
      <p:sp>
        <p:nvSpPr>
          <p:cNvPr id="8" name="codigo-fondo-64"/>
          <p:cNvSpPr/>
          <p:nvPr/>
        </p:nvSpPr>
        <p:spPr>
          <a:xfrm>
            <a:off x="457200" y="246888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9" name="codigo-65"/>
          <p:cNvSpPr txBox="1"/>
          <p:nvPr/>
        </p:nvSpPr>
        <p:spPr>
          <a:xfrm>
            <a:off x="621792" y="246888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nombre es "Ana"</a:t>
            </a:r>
            <a:endParaRPr lang="en-US" sz="1400" dirty="0"/>
          </a:p>
        </p:txBody>
      </p:sp>
      <p:sp>
        <p:nvSpPr>
          <p:cNvPr id="10" name="texto-66"/>
          <p:cNvSpPr txBox="1"/>
          <p:nvPr/>
        </p:nvSpPr>
        <p:spPr>
          <a:xfrm>
            <a:off x="438912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o-67"/>
          <p:cNvSpPr txBox="1"/>
          <p:nvPr/>
        </p:nvSpPr>
        <p:spPr>
          <a:xfrm>
            <a:off x="484632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 nombre con un texto</a:t>
            </a:r>
            <a:endParaRPr lang="en-US" sz="1500" dirty="0"/>
          </a:p>
        </p:txBody>
      </p:sp>
      <p:sp>
        <p:nvSpPr>
          <p:cNvPr id="12" name="codigo-fondo-68"/>
          <p:cNvSpPr/>
          <p:nvPr/>
        </p:nvSpPr>
        <p:spPr>
          <a:xfrm>
            <a:off x="457200" y="320040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3" name="codigo-69"/>
          <p:cNvSpPr txBox="1"/>
          <p:nvPr/>
        </p:nvSpPr>
        <p:spPr>
          <a:xfrm>
            <a:off x="621792" y="320040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apodo</a:t>
            </a:r>
            <a:endParaRPr lang="en-US" sz="1400" dirty="0"/>
          </a:p>
        </p:txBody>
      </p:sp>
      <p:sp>
        <p:nvSpPr>
          <p:cNvPr id="14" name="texto-70"/>
          <p:cNvSpPr txBox="1"/>
          <p:nvPr/>
        </p:nvSpPr>
        <p:spPr>
          <a:xfrm>
            <a:off x="438912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o-71"/>
          <p:cNvSpPr txBox="1"/>
          <p:nvPr/>
        </p:nvSpPr>
        <p:spPr>
          <a:xfrm>
            <a:off x="484632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 apodo vacía (vale ni maiz)</a:t>
            </a:r>
            <a:endParaRPr lang="en-US" sz="1500" dirty="0"/>
          </a:p>
        </p:txBody>
      </p:sp>
      <p:sp>
        <p:nvSpPr>
          <p:cNvPr id="16" name="tarjeta-72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7" name="circulo-73"/>
          <p:cNvSpPr/>
          <p:nvPr/>
        </p:nvSpPr>
        <p:spPr>
          <a:xfrm>
            <a:off x="658368" y="40690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circulo-texto-74"/>
          <p:cNvSpPr txBox="1"/>
          <p:nvPr/>
        </p:nvSpPr>
        <p:spPr>
          <a:xfrm>
            <a:off x="65836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9" name="texto-75"/>
          <p:cNvSpPr txBox="1"/>
          <p:nvPr/>
        </p:nvSpPr>
        <p:spPr>
          <a:xfrm>
            <a:off x="1325880" y="397764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variable se crea una sola vez. Para cambiarla después se usa ponele.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Cambiar el valor: ponele … a</a:t>
            </a:r>
            <a:endParaRPr lang="en-US" sz="3200" dirty="0"/>
          </a:p>
        </p:txBody>
      </p:sp>
      <p:sp>
        <p:nvSpPr>
          <p:cNvPr id="3" name="texto-76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usa para darle un valor nuevo a una variable que ya existe. Primero va el valor y luego el nombre.</a:t>
            </a:r>
            <a:endParaRPr lang="en-US" sz="1600" dirty="0"/>
          </a:p>
        </p:txBody>
      </p:sp>
      <p:sp>
        <p:nvSpPr>
          <p:cNvPr id="4" name="codigo-fondo-77"/>
          <p:cNvSpPr/>
          <p:nvPr/>
        </p:nvSpPr>
        <p:spPr>
          <a:xfrm>
            <a:off x="457200" y="173736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" name="codigo-78"/>
          <p:cNvSpPr txBox="1"/>
          <p:nvPr/>
        </p:nvSpPr>
        <p:spPr>
          <a:xfrm>
            <a:off x="621792" y="173736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20 a edad</a:t>
            </a:r>
            <a:endParaRPr lang="en-US" sz="1400" dirty="0"/>
          </a:p>
        </p:txBody>
      </p:sp>
      <p:sp>
        <p:nvSpPr>
          <p:cNvPr id="6" name="texto-79"/>
          <p:cNvSpPr txBox="1"/>
          <p:nvPr/>
        </p:nvSpPr>
        <p:spPr>
          <a:xfrm>
            <a:off x="438912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texto-80"/>
          <p:cNvSpPr txBox="1"/>
          <p:nvPr/>
        </p:nvSpPr>
        <p:spPr>
          <a:xfrm>
            <a:off x="4846320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Ahora edad vale 20</a:t>
            </a:r>
            <a:endParaRPr lang="en-US" sz="1500" dirty="0"/>
          </a:p>
        </p:txBody>
      </p:sp>
      <p:sp>
        <p:nvSpPr>
          <p:cNvPr id="8" name="codigo-fondo-81"/>
          <p:cNvSpPr/>
          <p:nvPr/>
        </p:nvSpPr>
        <p:spPr>
          <a:xfrm>
            <a:off x="457200" y="246888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9" name="codigo-82"/>
          <p:cNvSpPr txBox="1"/>
          <p:nvPr/>
        </p:nvSpPr>
        <p:spPr>
          <a:xfrm>
            <a:off x="621792" y="246888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"Luis" a nombre</a:t>
            </a:r>
            <a:endParaRPr lang="en-US" sz="1400" dirty="0"/>
          </a:p>
        </p:txBody>
      </p:sp>
      <p:sp>
        <p:nvSpPr>
          <p:cNvPr id="10" name="texto-83"/>
          <p:cNvSpPr txBox="1"/>
          <p:nvPr/>
        </p:nvSpPr>
        <p:spPr>
          <a:xfrm>
            <a:off x="438912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o-84"/>
          <p:cNvSpPr txBox="1"/>
          <p:nvPr/>
        </p:nvSpPr>
        <p:spPr>
          <a:xfrm>
            <a:off x="484632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Ahora nombre vale "Luis"</a:t>
            </a:r>
            <a:endParaRPr lang="en-US" sz="1500" dirty="0"/>
          </a:p>
        </p:txBody>
      </p:sp>
      <p:sp>
        <p:nvSpPr>
          <p:cNvPr id="12" name="codigo-fondo-85"/>
          <p:cNvSpPr/>
          <p:nvPr/>
        </p:nvSpPr>
        <p:spPr>
          <a:xfrm>
            <a:off x="457200" y="320040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3" name="codigo-86"/>
          <p:cNvSpPr txBox="1"/>
          <p:nvPr/>
        </p:nvSpPr>
        <p:spPr>
          <a:xfrm>
            <a:off x="621792" y="320040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edad a copia</a:t>
            </a:r>
            <a:endParaRPr lang="en-US" sz="1400" dirty="0"/>
          </a:p>
        </p:txBody>
      </p:sp>
      <p:sp>
        <p:nvSpPr>
          <p:cNvPr id="14" name="texto-87"/>
          <p:cNvSpPr txBox="1"/>
          <p:nvPr/>
        </p:nvSpPr>
        <p:spPr>
          <a:xfrm>
            <a:off x="438912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o-88"/>
          <p:cNvSpPr txBox="1"/>
          <p:nvPr/>
        </p:nvSpPr>
        <p:spPr>
          <a:xfrm>
            <a:off x="484632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copia toma el valor de edad</a:t>
            </a:r>
            <a:endParaRPr lang="en-US" sz="1500" dirty="0"/>
          </a:p>
        </p:txBody>
      </p:sp>
      <p:sp>
        <p:nvSpPr>
          <p:cNvPr id="16" name="tarjeta-89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7" name="circulo-90"/>
          <p:cNvSpPr/>
          <p:nvPr/>
        </p:nvSpPr>
        <p:spPr>
          <a:xfrm>
            <a:off x="658368" y="40690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circulo-texto-91"/>
          <p:cNvSpPr txBox="1"/>
          <p:nvPr/>
        </p:nvSpPr>
        <p:spPr>
          <a:xfrm>
            <a:off x="65836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9" name="texto-92"/>
          <p:cNvSpPr txBox="1"/>
          <p:nvPr/>
        </p:nvSpPr>
        <p:spPr>
          <a:xfrm>
            <a:off x="1325880" y="397764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variable debe existir antes. Si no, primero créala con fijate que.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 el tipo: que onda</a:t>
            </a:r>
            <a:endParaRPr lang="en-US" sz="3200" dirty="0"/>
          </a:p>
        </p:txBody>
      </p:sp>
      <p:sp>
        <p:nvSpPr>
          <p:cNvPr id="3" name="texto-9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Muestra qué tipo de dato guarda una variable, como type() en Python.</a:t>
            </a:r>
            <a:endParaRPr lang="en-US" sz="1600" dirty="0"/>
          </a:p>
        </p:txBody>
      </p:sp>
      <p:sp>
        <p:nvSpPr>
          <p:cNvPr id="4" name="texto-94"/>
          <p:cNvSpPr txBox="1"/>
          <p:nvPr/>
        </p:nvSpPr>
        <p:spPr>
          <a:xfrm>
            <a:off x="45720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Programa</a:t>
            </a:r>
            <a:endParaRPr lang="en-US" sz="1300" dirty="0"/>
          </a:p>
        </p:txBody>
      </p:sp>
      <p:sp>
        <p:nvSpPr>
          <p:cNvPr id="5" name="codigo-fondo-95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codigo-96"/>
          <p:cNvSpPr txBox="1"/>
          <p:nvPr/>
        </p:nvSpPr>
        <p:spPr>
          <a:xfrm>
            <a:off x="621792" y="1965960"/>
            <a:ext cx="3602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precio es 12.50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onda precio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"caro" a precio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onda precio</a:t>
            </a:r>
            <a:endParaRPr lang="en-US" sz="1300" dirty="0"/>
          </a:p>
        </p:txBody>
      </p:sp>
      <p:sp>
        <p:nvSpPr>
          <p:cNvPr id="7" name="texto-97"/>
          <p:cNvSpPr txBox="1"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Resultado</a:t>
            </a:r>
            <a:endParaRPr lang="en-US" sz="1300" dirty="0"/>
          </a:p>
        </p:txBody>
      </p:sp>
      <p:sp>
        <p:nvSpPr>
          <p:cNvPr id="8" name="codigo-fondo-98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9" name="codigo-99"/>
          <p:cNvSpPr txBox="1"/>
          <p:nvPr/>
        </p:nvSpPr>
        <p:spPr>
          <a:xfrm>
            <a:off x="4919472" y="1965960"/>
            <a:ext cx="3602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vuelto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chisme</a:t>
            </a:r>
            <a:endParaRPr lang="en-US" sz="1500" dirty="0"/>
          </a:p>
        </p:txBody>
      </p:sp>
      <p:sp>
        <p:nvSpPr>
          <p:cNvPr id="10" name="tarjeta-100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circulo-101"/>
          <p:cNvSpPr/>
          <p:nvPr/>
        </p:nvSpPr>
        <p:spPr>
          <a:xfrm>
            <a:off x="658368" y="37947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circulo-texto-102"/>
          <p:cNvSpPr txBox="1"/>
          <p:nvPr/>
        </p:nvSpPr>
        <p:spPr>
          <a:xfrm>
            <a:off x="65836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3" name="texto-103"/>
          <p:cNvSpPr txBox="1"/>
          <p:nvPr/>
        </p:nvSpPr>
        <p:spPr>
          <a:xfrm>
            <a:off x="1325880" y="352044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 onda muestra el TIPO, no el valor: para "Ana" dice chisme. Para ver los valores, ejecuta con -f y mira la tabla «Memoria al terminar».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Los cinco tipos de dato</a:t>
            </a:r>
            <a:endParaRPr lang="en-US" sz="3200" dirty="0"/>
          </a:p>
        </p:txBody>
      </p:sp>
      <p:graphicFrame>
        <p:nvGraphicFramePr>
          <p:cNvPr id="11" name="tabla-tip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Qué guarda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Ejemplos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cabal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Números enteros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   -7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con vuelto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Números con decimales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3.75   -0.5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chisme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Texto entre comillas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"Ana"   'hola'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simonel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Sí o no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simon   nel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ni maiz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Nada (vacío)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 maiz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B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rjeta-104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5" name="circulo-105"/>
          <p:cNvSpPr/>
          <p:nvPr/>
        </p:nvSpPr>
        <p:spPr>
          <a:xfrm>
            <a:off x="658368" y="39547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circulo-texto-106"/>
          <p:cNvSpPr txBox="1"/>
          <p:nvPr/>
        </p:nvSpPr>
        <p:spPr>
          <a:xfrm>
            <a:off x="658368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7" name="texto-107"/>
          <p:cNvSpPr txBox="1"/>
          <p:nvPr/>
        </p:nvSpPr>
        <p:spPr>
          <a:xfrm>
            <a:off x="1325880" y="379476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decimal lleva números a ambos lados del punto (0.5, no .5). Y "simon" con comillas es chisme, no simonel.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Reglas para los nombres</a:t>
            </a:r>
            <a:endParaRPr lang="en-US" sz="3200" dirty="0"/>
          </a:p>
        </p:txBody>
      </p:sp>
      <p:sp>
        <p:nvSpPr>
          <p:cNvPr id="3" name="texto-108"/>
          <p:cNvSpPr txBox="1"/>
          <p:nvPr/>
        </p:nvSpPr>
        <p:spPr>
          <a:xfrm>
            <a:off x="457200" y="11430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Empiezan con letra o _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Luego letras, números o _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permiten ñ y tildes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 espacios ni símbolos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Mayúsculas importan: Edad y edad son distintas</a:t>
            </a:r>
            <a:endParaRPr lang="en-US" sz="1500" dirty="0"/>
          </a:p>
        </p:txBody>
      </p:sp>
      <p:sp>
        <p:nvSpPr>
          <p:cNvPr id="4" name="circulo-109"/>
          <p:cNvSpPr/>
          <p:nvPr/>
        </p:nvSpPr>
        <p:spPr>
          <a:xfrm>
            <a:off x="4389120" y="1188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circulo-texto-110"/>
          <p:cNvSpPr txBox="1"/>
          <p:nvPr/>
        </p:nvSpPr>
        <p:spPr>
          <a:xfrm>
            <a:off x="43891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o-111"/>
          <p:cNvSpPr txBox="1"/>
          <p:nvPr/>
        </p:nvSpPr>
        <p:spPr>
          <a:xfrm>
            <a:off x="4937760" y="11430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año</a:t>
            </a:r>
            <a:endParaRPr lang="en-US" sz="1500" dirty="0"/>
          </a:p>
        </p:txBody>
      </p:sp>
      <p:sp>
        <p:nvSpPr>
          <p:cNvPr id="7" name="texto-112"/>
          <p:cNvSpPr txBox="1"/>
          <p:nvPr/>
        </p:nvSpPr>
        <p:spPr>
          <a:xfrm>
            <a:off x="6400800" y="11430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 ñ está permitida</a:t>
            </a:r>
            <a:endParaRPr lang="en-US" sz="1400" dirty="0"/>
          </a:p>
        </p:txBody>
      </p:sp>
      <p:sp>
        <p:nvSpPr>
          <p:cNvPr id="8" name="circulo-113"/>
          <p:cNvSpPr/>
          <p:nvPr/>
        </p:nvSpPr>
        <p:spPr>
          <a:xfrm>
            <a:off x="4389120" y="1737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circulo-texto-114"/>
          <p:cNvSpPr txBox="1"/>
          <p:nvPr/>
        </p:nvSpPr>
        <p:spPr>
          <a:xfrm>
            <a:off x="4389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o-115"/>
          <p:cNvSpPr txBox="1"/>
          <p:nvPr/>
        </p:nvSpPr>
        <p:spPr>
          <a:xfrm>
            <a:off x="4937760" y="1691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_total</a:t>
            </a:r>
            <a:endParaRPr lang="en-US" sz="1500" dirty="0"/>
          </a:p>
        </p:txBody>
      </p:sp>
      <p:sp>
        <p:nvSpPr>
          <p:cNvPr id="11" name="texto-116"/>
          <p:cNvSpPr txBox="1"/>
          <p:nvPr/>
        </p:nvSpPr>
        <p:spPr>
          <a:xfrm>
            <a:off x="6400800" y="1691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Puede empezar con _</a:t>
            </a:r>
            <a:endParaRPr lang="en-US" sz="1400" dirty="0"/>
          </a:p>
        </p:txBody>
      </p:sp>
      <p:sp>
        <p:nvSpPr>
          <p:cNvPr id="12" name="circulo-117"/>
          <p:cNvSpPr/>
          <p:nvPr/>
        </p:nvSpPr>
        <p:spPr>
          <a:xfrm>
            <a:off x="4389120" y="22860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circulo-texto-118"/>
          <p:cNvSpPr txBox="1"/>
          <p:nvPr/>
        </p:nvSpPr>
        <p:spPr>
          <a:xfrm>
            <a:off x="43891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4" name="texto-119"/>
          <p:cNvSpPr txBox="1"/>
          <p:nvPr/>
        </p:nvSpPr>
        <p:spPr>
          <a:xfrm>
            <a:off x="4937760" y="2240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</a:t>
            </a:r>
            <a:endParaRPr lang="en-US" sz="1500" dirty="0"/>
          </a:p>
        </p:txBody>
      </p:sp>
      <p:sp>
        <p:nvSpPr>
          <p:cNvPr id="15" name="texto-120"/>
          <p:cNvSpPr txBox="1"/>
          <p:nvPr/>
        </p:nvSpPr>
        <p:spPr>
          <a:xfrm>
            <a:off x="6400800" y="2240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Números después de la letra</a:t>
            </a:r>
            <a:endParaRPr lang="en-US" sz="1400" dirty="0"/>
          </a:p>
        </p:txBody>
      </p:sp>
      <p:sp>
        <p:nvSpPr>
          <p:cNvPr id="16" name="circulo-121"/>
          <p:cNvSpPr/>
          <p:nvPr/>
        </p:nvSpPr>
        <p:spPr>
          <a:xfrm>
            <a:off x="4389120" y="28346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circulo-texto-122"/>
          <p:cNvSpPr txBox="1"/>
          <p:nvPr/>
        </p:nvSpPr>
        <p:spPr>
          <a:xfrm>
            <a:off x="43891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✗</a:t>
            </a:r>
            <a:endParaRPr lang="en-US" sz="1500" dirty="0"/>
          </a:p>
        </p:txBody>
      </p:sp>
      <p:sp>
        <p:nvSpPr>
          <p:cNvPr id="18" name="texto-123"/>
          <p:cNvSpPr txBox="1"/>
          <p:nvPr/>
        </p:nvSpPr>
        <p:spPr>
          <a:xfrm>
            <a:off x="4937760" y="27889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2do</a:t>
            </a:r>
            <a:endParaRPr lang="en-US" sz="1500" dirty="0"/>
          </a:p>
        </p:txBody>
      </p:sp>
      <p:sp>
        <p:nvSpPr>
          <p:cNvPr id="19" name="texto-124"/>
          <p:cNvSpPr txBox="1"/>
          <p:nvPr/>
        </p:nvSpPr>
        <p:spPr>
          <a:xfrm>
            <a:off x="6400800" y="27889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Empieza con número</a:t>
            </a:r>
            <a:endParaRPr lang="en-US" sz="1400" dirty="0"/>
          </a:p>
        </p:txBody>
      </p:sp>
      <p:sp>
        <p:nvSpPr>
          <p:cNvPr id="20" name="circulo-125"/>
          <p:cNvSpPr/>
          <p:nvPr/>
        </p:nvSpPr>
        <p:spPr>
          <a:xfrm>
            <a:off x="4389120" y="33832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circulo-texto-126"/>
          <p:cNvSpPr txBox="1"/>
          <p:nvPr/>
        </p:nvSpPr>
        <p:spPr>
          <a:xfrm>
            <a:off x="43891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✗</a:t>
            </a:r>
            <a:endParaRPr lang="en-US" sz="1500" dirty="0"/>
          </a:p>
        </p:txBody>
      </p:sp>
      <p:sp>
        <p:nvSpPr>
          <p:cNvPr id="22" name="texto-127"/>
          <p:cNvSpPr txBox="1"/>
          <p:nvPr/>
        </p:nvSpPr>
        <p:spPr>
          <a:xfrm>
            <a:off x="4937760" y="3337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 pisto</a:t>
            </a:r>
            <a:endParaRPr lang="en-US" sz="1500" dirty="0"/>
          </a:p>
        </p:txBody>
      </p:sp>
      <p:sp>
        <p:nvSpPr>
          <p:cNvPr id="23" name="texto-128"/>
          <p:cNvSpPr txBox="1"/>
          <p:nvPr/>
        </p:nvSpPr>
        <p:spPr>
          <a:xfrm>
            <a:off x="6400800" y="33375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Tiene un espacio</a:t>
            </a:r>
            <a:endParaRPr lang="en-US" sz="1400" dirty="0"/>
          </a:p>
        </p:txBody>
      </p:sp>
      <p:sp>
        <p:nvSpPr>
          <p:cNvPr id="24" name="circulo-129"/>
          <p:cNvSpPr/>
          <p:nvPr/>
        </p:nvSpPr>
        <p:spPr>
          <a:xfrm>
            <a:off x="4389120" y="39319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circulo-texto-130"/>
          <p:cNvSpPr txBox="1"/>
          <p:nvPr/>
        </p:nvSpPr>
        <p:spPr>
          <a:xfrm>
            <a:off x="43891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✗</a:t>
            </a:r>
            <a:endParaRPr lang="en-US" sz="1500" dirty="0"/>
          </a:p>
        </p:txBody>
      </p:sp>
      <p:sp>
        <p:nvSpPr>
          <p:cNvPr id="26" name="texto-131"/>
          <p:cNvSpPr txBox="1"/>
          <p:nvPr/>
        </p:nvSpPr>
        <p:spPr>
          <a:xfrm>
            <a:off x="493776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27" name="texto-132"/>
          <p:cNvSpPr txBox="1"/>
          <p:nvPr/>
        </p:nvSpPr>
        <p:spPr>
          <a:xfrm>
            <a:off x="6400800" y="3886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Es palabra reservada</a:t>
            </a:r>
            <a:endParaRPr lang="en-US" sz="1400" dirty="0"/>
          </a:p>
        </p:txBody>
      </p:sp>
      <p:sp>
        <p:nvSpPr>
          <p:cNvPr id="28" name="texto-133"/>
          <p:cNvSpPr txBox="1"/>
          <p:nvPr/>
        </p:nvSpPr>
        <p:spPr>
          <a:xfrm>
            <a:off x="45720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Palabras reservadas: fijate · que · es · ponele · a · simon · nel · ni · maiz · onda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Manos a la obra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Tu primer programa, los errores y el modo interactivo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 primer programa</a:t>
            </a:r>
            <a:endParaRPr lang="en-US" sz="3200" dirty="0"/>
          </a:p>
        </p:txBody>
      </p:sp>
      <p:sp>
        <p:nvSpPr>
          <p:cNvPr id="3" name="circulo-134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circulo-texto-135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o-136"/>
          <p:cNvSpPr txBox="1"/>
          <p:nvPr/>
        </p:nvSpPr>
        <p:spPr>
          <a:xfrm>
            <a:off x="10515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 el archivo</a:t>
            </a:r>
            <a:endParaRPr lang="en-US" sz="1600" dirty="0"/>
          </a:p>
        </p:txBody>
      </p:sp>
      <p:sp>
        <p:nvSpPr>
          <p:cNvPr id="6" name="texto-137"/>
          <p:cNvSpPr txBox="1"/>
          <p:nvPr/>
        </p:nvSpPr>
        <p:spPr>
          <a:xfrm>
            <a:off x="105156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mi_programa.rp en la carpeta del proyecto (con VS Code)</a:t>
            </a:r>
            <a:endParaRPr lang="en-US" sz="1400" dirty="0"/>
          </a:p>
        </p:txBody>
      </p:sp>
      <p:sp>
        <p:nvSpPr>
          <p:cNvPr id="7" name="circulo-13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irculo-texto-139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o-140"/>
          <p:cNvSpPr txBox="1"/>
          <p:nvPr/>
        </p:nvSpPr>
        <p:spPr>
          <a:xfrm>
            <a:off x="10515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Escribe el código</a:t>
            </a:r>
            <a:endParaRPr lang="en-US" sz="1600" dirty="0"/>
          </a:p>
        </p:txBody>
      </p:sp>
      <p:sp>
        <p:nvSpPr>
          <p:cNvPr id="10" name="texto-141"/>
          <p:cNvSpPr txBox="1"/>
          <p:nvPr/>
        </p:nvSpPr>
        <p:spPr>
          <a:xfrm>
            <a:off x="1051560" y="25420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de la derecha, una instrucción por línea</a:t>
            </a:r>
            <a:endParaRPr lang="en-US" sz="1400" dirty="0"/>
          </a:p>
        </p:txBody>
      </p:sp>
      <p:sp>
        <p:nvSpPr>
          <p:cNvPr id="11" name="circulo-142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circulo-texto-143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o-144"/>
          <p:cNvSpPr txBox="1"/>
          <p:nvPr/>
        </p:nvSpPr>
        <p:spPr>
          <a:xfrm>
            <a:off x="105156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Guarda y ejecuta</a:t>
            </a:r>
            <a:endParaRPr lang="en-US" sz="1600" dirty="0"/>
          </a:p>
        </p:txBody>
      </p:sp>
      <p:sp>
        <p:nvSpPr>
          <p:cNvPr id="14" name="texto-145"/>
          <p:cNvSpPr txBox="1"/>
          <p:nvPr/>
        </p:nvSpPr>
        <p:spPr>
          <a:xfrm>
            <a:off x="1051560" y="35935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./rp mi_programa.rp</a:t>
            </a:r>
            <a:endParaRPr lang="en-US" sz="1400" dirty="0"/>
          </a:p>
        </p:txBody>
      </p:sp>
      <p:sp>
        <p:nvSpPr>
          <p:cNvPr id="15" name="texto-146"/>
          <p:cNvSpPr txBox="1"/>
          <p:nvPr/>
        </p:nvSpPr>
        <p:spPr>
          <a:xfrm>
            <a:off x="4389120" y="1051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mi_programa.rp</a:t>
            </a:r>
            <a:endParaRPr lang="en-US" sz="1300" dirty="0"/>
          </a:p>
        </p:txBody>
      </p:sp>
      <p:sp>
        <p:nvSpPr>
          <p:cNvPr id="16" name="codigo-fondo-147"/>
          <p:cNvSpPr/>
          <p:nvPr/>
        </p:nvSpPr>
        <p:spPr>
          <a:xfrm>
            <a:off x="4389120" y="1371600"/>
            <a:ext cx="429768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7" name="codigo-148"/>
          <p:cNvSpPr txBox="1"/>
          <p:nvPr/>
        </p:nvSpPr>
        <p:spPr>
          <a:xfrm>
            <a:off x="4553712" y="1371600"/>
            <a:ext cx="3968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nombre es "Luis"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edad es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onda nombre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20.5 a edad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onda edad</a:t>
            </a:r>
            <a:endParaRPr lang="en-US" sz="1300" dirty="0"/>
          </a:p>
        </p:txBody>
      </p:sp>
      <p:sp>
        <p:nvSpPr>
          <p:cNvPr id="18" name="texto-149"/>
          <p:cNvSpPr txBox="1"/>
          <p:nvPr/>
        </p:nvSpPr>
        <p:spPr>
          <a:xfrm>
            <a:off x="4389120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Resultado</a:t>
            </a:r>
            <a:endParaRPr lang="en-US" sz="1300" dirty="0"/>
          </a:p>
        </p:txBody>
      </p:sp>
      <p:sp>
        <p:nvSpPr>
          <p:cNvPr id="19" name="codigo-fondo-150"/>
          <p:cNvSpPr/>
          <p:nvPr/>
        </p:nvSpPr>
        <p:spPr>
          <a:xfrm>
            <a:off x="4389120" y="3611880"/>
            <a:ext cx="429768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20" name="codigo-151"/>
          <p:cNvSpPr txBox="1"/>
          <p:nvPr/>
        </p:nvSpPr>
        <p:spPr>
          <a:xfrm>
            <a:off x="4553712" y="3611880"/>
            <a:ext cx="3968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chisme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vuelto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Cuando algo sale mal</a:t>
            </a:r>
            <a:endParaRPr lang="en-US" sz="3200" dirty="0"/>
          </a:p>
        </p:txBody>
      </p:sp>
      <p:sp>
        <p:nvSpPr>
          <p:cNvPr id="3" name="codigo-fondo-152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4" name="codigo-153"/>
          <p:cNvSpPr txBox="1"/>
          <p:nvPr/>
        </p:nvSpPr>
        <p:spPr>
          <a:xfrm>
            <a:off x="621792" y="1097280"/>
            <a:ext cx="7900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✘ Error sintáctico (línea 2, columna 11):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falta la palabra 'a': escriba 'ponele 20 a edad'</a:t>
            </a:r>
            <a:endParaRPr lang="en-US" sz="1400" dirty="0"/>
          </a:p>
        </p:txBody>
      </p:sp>
      <p:sp>
        <p:nvSpPr>
          <p:cNvPr id="5" name="texto-154"/>
          <p:cNvSpPr txBox="1"/>
          <p:nvPr/>
        </p:nvSpPr>
        <p:spPr>
          <a:xfrm>
            <a:off x="45720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Fase</a:t>
            </a:r>
            <a:endParaRPr lang="en-US" sz="1600" dirty="0"/>
          </a:p>
        </p:txBody>
      </p:sp>
      <p:sp>
        <p:nvSpPr>
          <p:cNvPr id="6" name="texto-155"/>
          <p:cNvSpPr txBox="1"/>
          <p:nvPr/>
        </p:nvSpPr>
        <p:spPr>
          <a:xfrm>
            <a:off x="45720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tipo de error es</a:t>
            </a:r>
            <a:endParaRPr lang="en-US" sz="1400" dirty="0"/>
          </a:p>
        </p:txBody>
      </p:sp>
      <p:sp>
        <p:nvSpPr>
          <p:cNvPr id="7" name="texto-156"/>
          <p:cNvSpPr txBox="1"/>
          <p:nvPr/>
        </p:nvSpPr>
        <p:spPr>
          <a:xfrm>
            <a:off x="329184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Línea y columna</a:t>
            </a:r>
            <a:endParaRPr lang="en-US" sz="1600" dirty="0"/>
          </a:p>
        </p:txBody>
      </p:sp>
      <p:sp>
        <p:nvSpPr>
          <p:cNvPr id="8" name="texto-157"/>
          <p:cNvSpPr txBox="1"/>
          <p:nvPr/>
        </p:nvSpPr>
        <p:spPr>
          <a:xfrm>
            <a:off x="329184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Dónde está</a:t>
            </a:r>
            <a:endParaRPr lang="en-US" sz="1400" dirty="0"/>
          </a:p>
        </p:txBody>
      </p:sp>
      <p:sp>
        <p:nvSpPr>
          <p:cNvPr id="9" name="texto-158"/>
          <p:cNvSpPr txBox="1"/>
          <p:nvPr/>
        </p:nvSpPr>
        <p:spPr>
          <a:xfrm>
            <a:off x="612648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Sugerencia</a:t>
            </a:r>
            <a:endParaRPr lang="en-US" sz="1600" dirty="0"/>
          </a:p>
        </p:txBody>
      </p:sp>
      <p:sp>
        <p:nvSpPr>
          <p:cNvPr id="10" name="texto-159"/>
          <p:cNvSpPr txBox="1"/>
          <p:nvPr/>
        </p:nvSpPr>
        <p:spPr>
          <a:xfrm>
            <a:off x="612648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Cómo arreglarlo</a:t>
            </a:r>
            <a:endParaRPr lang="en-US" sz="1400" dirty="0"/>
          </a:p>
        </p:txBody>
      </p:sp>
      <p:sp>
        <p:nvSpPr>
          <p:cNvPr id="11" name="tarjeta-160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o-161"/>
          <p:cNvSpPr txBox="1"/>
          <p:nvPr/>
        </p:nvSpPr>
        <p:spPr>
          <a:xfrm>
            <a:off x="640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Léxico</a:t>
            </a:r>
            <a:endParaRPr lang="en-US" sz="1600" dirty="0"/>
          </a:p>
        </p:txBody>
      </p:sp>
      <p:sp>
        <p:nvSpPr>
          <p:cNvPr id="13" name="texto-162"/>
          <p:cNvSpPr txBox="1"/>
          <p:nvPr/>
        </p:nvSpPr>
        <p:spPr>
          <a:xfrm>
            <a:off x="6400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Palabra mal escrita</a:t>
            </a:r>
            <a:endParaRPr lang="en-US" sz="1400" dirty="0"/>
          </a:p>
        </p:txBody>
      </p:sp>
      <p:sp>
        <p:nvSpPr>
          <p:cNvPr id="14" name="codigo-fondo-163"/>
          <p:cNvSpPr/>
          <p:nvPr/>
        </p:nvSpPr>
        <p:spPr>
          <a:xfrm>
            <a:off x="594360" y="374904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5" name="codigo-164"/>
          <p:cNvSpPr txBox="1"/>
          <p:nvPr/>
        </p:nvSpPr>
        <p:spPr>
          <a:xfrm>
            <a:off x="758952" y="37490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2do es 5</a:t>
            </a:r>
            <a:endParaRPr lang="en-US" sz="1200" dirty="0"/>
          </a:p>
        </p:txBody>
      </p:sp>
      <p:sp>
        <p:nvSpPr>
          <p:cNvPr id="16" name="tarjeta-165"/>
          <p:cNvSpPr/>
          <p:nvPr/>
        </p:nvSpPr>
        <p:spPr>
          <a:xfrm>
            <a:off x="329184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texto-166"/>
          <p:cNvSpPr txBox="1"/>
          <p:nvPr/>
        </p:nvSpPr>
        <p:spPr>
          <a:xfrm>
            <a:off x="34747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Sintáctico</a:t>
            </a:r>
            <a:endParaRPr lang="en-US" sz="1600" dirty="0"/>
          </a:p>
        </p:txBody>
      </p:sp>
      <p:sp>
        <p:nvSpPr>
          <p:cNvPr id="18" name="texto-167"/>
          <p:cNvSpPr txBox="1"/>
          <p:nvPr/>
        </p:nvSpPr>
        <p:spPr>
          <a:xfrm>
            <a:off x="34747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Instrucción mal armada</a:t>
            </a:r>
            <a:endParaRPr lang="en-US" sz="1400" dirty="0"/>
          </a:p>
        </p:txBody>
      </p:sp>
      <p:sp>
        <p:nvSpPr>
          <p:cNvPr id="19" name="codigo-fondo-168"/>
          <p:cNvSpPr/>
          <p:nvPr/>
        </p:nvSpPr>
        <p:spPr>
          <a:xfrm>
            <a:off x="3429000" y="374904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0" name="codigo-169"/>
          <p:cNvSpPr txBox="1"/>
          <p:nvPr/>
        </p:nvSpPr>
        <p:spPr>
          <a:xfrm>
            <a:off x="3593592" y="37490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20 edad</a:t>
            </a:r>
            <a:endParaRPr lang="en-US" sz="1200" dirty="0"/>
          </a:p>
        </p:txBody>
      </p:sp>
      <p:sp>
        <p:nvSpPr>
          <p:cNvPr id="21" name="tarjeta-170"/>
          <p:cNvSpPr/>
          <p:nvPr/>
        </p:nvSpPr>
        <p:spPr>
          <a:xfrm>
            <a:off x="612648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texto-171"/>
          <p:cNvSpPr txBox="1"/>
          <p:nvPr/>
        </p:nvSpPr>
        <p:spPr>
          <a:xfrm>
            <a:off x="63093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Semántico</a:t>
            </a:r>
            <a:endParaRPr lang="en-US" sz="1600" dirty="0"/>
          </a:p>
        </p:txBody>
      </p:sp>
      <p:sp>
        <p:nvSpPr>
          <p:cNvPr id="23" name="texto-172"/>
          <p:cNvSpPr txBox="1"/>
          <p:nvPr/>
        </p:nvSpPr>
        <p:spPr>
          <a:xfrm>
            <a:off x="630936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tiene sentido</a:t>
            </a:r>
            <a:endParaRPr lang="en-US" sz="1400" dirty="0"/>
          </a:p>
        </p:txBody>
      </p:sp>
      <p:sp>
        <p:nvSpPr>
          <p:cNvPr id="24" name="codigo-fondo-173"/>
          <p:cNvSpPr/>
          <p:nvPr/>
        </p:nvSpPr>
        <p:spPr>
          <a:xfrm>
            <a:off x="6263640" y="374904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5" name="codigo-174"/>
          <p:cNvSpPr txBox="1"/>
          <p:nvPr/>
        </p:nvSpPr>
        <p:spPr>
          <a:xfrm>
            <a:off x="6428232" y="37490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5 a sueldo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Probar sin archivos: modo interactivo</a:t>
            </a:r>
            <a:endParaRPr lang="en-US" sz="3200" dirty="0"/>
          </a:p>
        </p:txBody>
      </p:sp>
      <p:sp>
        <p:nvSpPr>
          <p:cNvPr id="3" name="texto-175"/>
          <p:cNvSpPr txBox="1"/>
          <p:nvPr/>
        </p:nvSpPr>
        <p:spPr>
          <a:xfrm>
            <a:off x="4572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Escribe ./rp -i y luego una instrucción por vez:</a:t>
            </a:r>
            <a:endParaRPr lang="en-US" sz="1500" dirty="0"/>
          </a:p>
        </p:txBody>
      </p:sp>
      <p:sp>
        <p:nvSpPr>
          <p:cNvPr id="4" name="codigo-fondo-176"/>
          <p:cNvSpPr/>
          <p:nvPr/>
        </p:nvSpPr>
        <p:spPr>
          <a:xfrm>
            <a:off x="457200" y="1554480"/>
            <a:ext cx="42062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5" name="codigo-177"/>
          <p:cNvSpPr txBox="1"/>
          <p:nvPr/>
        </p:nvSpPr>
        <p:spPr>
          <a:xfrm>
            <a:off x="621792" y="1554480"/>
            <a:ext cx="38770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rp&gt; fijate que pisto es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rp&gt; que onda pisto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rp&gt; ponele "mucho" a pisto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rp&gt; que onda pisto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chisme</a:t>
            </a:r>
            <a:endParaRPr lang="en-US" sz="1300" dirty="0"/>
          </a:p>
        </p:txBody>
      </p:sp>
      <p:sp>
        <p:nvSpPr>
          <p:cNvPr id="6" name="tarjeta-178"/>
          <p:cNvSpPr/>
          <p:nvPr/>
        </p:nvSpPr>
        <p:spPr>
          <a:xfrm>
            <a:off x="5029200" y="1097280"/>
            <a:ext cx="3657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7" name="texto-179"/>
          <p:cNvSpPr txBox="1"/>
          <p:nvPr/>
        </p:nvSpPr>
        <p:spPr>
          <a:xfrm>
            <a:off x="5212080" y="1097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:tabla</a:t>
            </a:r>
            <a:endParaRPr lang="en-US" sz="1500" dirty="0"/>
          </a:p>
        </p:txBody>
      </p:sp>
      <p:sp>
        <p:nvSpPr>
          <p:cNvPr id="8" name="texto-180"/>
          <p:cNvSpPr txBox="1"/>
          <p:nvPr/>
        </p:nvSpPr>
        <p:spPr>
          <a:xfrm>
            <a:off x="6446520" y="1097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Variables y sus tipos</a:t>
            </a:r>
            <a:endParaRPr lang="en-US" sz="1400" dirty="0"/>
          </a:p>
        </p:txBody>
      </p:sp>
      <p:sp>
        <p:nvSpPr>
          <p:cNvPr id="9" name="tarjeta-181"/>
          <p:cNvSpPr/>
          <p:nvPr/>
        </p:nvSpPr>
        <p:spPr>
          <a:xfrm>
            <a:off x="5029200" y="1755648"/>
            <a:ext cx="3657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0" name="texto-182"/>
          <p:cNvSpPr txBox="1"/>
          <p:nvPr/>
        </p:nvSpPr>
        <p:spPr>
          <a:xfrm>
            <a:off x="5212080" y="17556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:memoria</a:t>
            </a:r>
            <a:endParaRPr lang="en-US" sz="1500" dirty="0"/>
          </a:p>
        </p:txBody>
      </p:sp>
      <p:sp>
        <p:nvSpPr>
          <p:cNvPr id="11" name="texto-183"/>
          <p:cNvSpPr txBox="1"/>
          <p:nvPr/>
        </p:nvSpPr>
        <p:spPr>
          <a:xfrm>
            <a:off x="6446520" y="17556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valor de cada variable</a:t>
            </a:r>
            <a:endParaRPr lang="en-US" sz="1400" dirty="0"/>
          </a:p>
        </p:txBody>
      </p:sp>
      <p:sp>
        <p:nvSpPr>
          <p:cNvPr id="12" name="tarjeta-184"/>
          <p:cNvSpPr/>
          <p:nvPr/>
        </p:nvSpPr>
        <p:spPr>
          <a:xfrm>
            <a:off x="5029200" y="2414016"/>
            <a:ext cx="3657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3" name="texto-185"/>
          <p:cNvSpPr txBox="1"/>
          <p:nvPr/>
        </p:nvSpPr>
        <p:spPr>
          <a:xfrm>
            <a:off x="5212080" y="2414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:ast</a:t>
            </a:r>
            <a:endParaRPr lang="en-US" sz="1500" dirty="0"/>
          </a:p>
        </p:txBody>
      </p:sp>
      <p:sp>
        <p:nvSpPr>
          <p:cNvPr id="14" name="texto-186"/>
          <p:cNvSpPr txBox="1"/>
          <p:nvPr/>
        </p:nvSpPr>
        <p:spPr>
          <a:xfrm>
            <a:off x="6446520" y="24140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árbol de la última línea</a:t>
            </a:r>
            <a:endParaRPr lang="en-US" sz="1400" dirty="0"/>
          </a:p>
        </p:txBody>
      </p:sp>
      <p:sp>
        <p:nvSpPr>
          <p:cNvPr id="15" name="tarjeta-187"/>
          <p:cNvSpPr/>
          <p:nvPr/>
        </p:nvSpPr>
        <p:spPr>
          <a:xfrm>
            <a:off x="5029200" y="3072384"/>
            <a:ext cx="3657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6" name="texto-188"/>
          <p:cNvSpPr txBox="1"/>
          <p:nvPr/>
        </p:nvSpPr>
        <p:spPr>
          <a:xfrm>
            <a:off x="5212080" y="30723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:salir</a:t>
            </a:r>
            <a:endParaRPr lang="en-US" sz="1500" dirty="0"/>
          </a:p>
        </p:txBody>
      </p:sp>
      <p:sp>
        <p:nvSpPr>
          <p:cNvPr id="17" name="texto-189"/>
          <p:cNvSpPr txBox="1"/>
          <p:nvPr/>
        </p:nvSpPr>
        <p:spPr>
          <a:xfrm>
            <a:off x="6446520" y="3072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Terminar</a:t>
            </a:r>
            <a:endParaRPr lang="en-US" sz="1400" dirty="0"/>
          </a:p>
        </p:txBody>
      </p:sp>
      <p:sp>
        <p:nvSpPr>
          <p:cNvPr id="18" name="tarjeta-190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9" name="circulo-191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circulo-texto-192"/>
          <p:cNvSpPr txBox="1"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1" name="texto-193"/>
          <p:cNvSpPr txBox="1"/>
          <p:nvPr/>
        </p:nvSpPr>
        <p:spPr>
          <a:xfrm>
            <a:off x="1325880" y="388620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Ideal para practicar: cada instrucción se ejecuta al presionar Enter.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¿Qué pasa por dentro?</a:t>
            </a:r>
            <a:endParaRPr lang="en-US" sz="3200" dirty="0"/>
          </a:p>
        </p:txBody>
      </p:sp>
      <p:sp>
        <p:nvSpPr>
          <p:cNvPr id="3" name="tarjeta-194"/>
          <p:cNvSpPr/>
          <p:nvPr/>
        </p:nvSpPr>
        <p:spPr>
          <a:xfrm>
            <a:off x="457200" y="128016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4" name="texto-195"/>
          <p:cNvSpPr txBox="1"/>
          <p:nvPr/>
        </p:nvSpPr>
        <p:spPr>
          <a:xfrm>
            <a:off x="457200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Léxico</a:t>
            </a:r>
            <a:endParaRPr lang="en-US" sz="1700" dirty="0"/>
          </a:p>
        </p:txBody>
      </p:sp>
      <p:sp>
        <p:nvSpPr>
          <p:cNvPr id="5" name="texto-196"/>
          <p:cNvSpPr txBox="1"/>
          <p:nvPr/>
        </p:nvSpPr>
        <p:spPr>
          <a:xfrm>
            <a:off x="2286000" y="1280160"/>
            <a:ext cx="301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texto-197"/>
          <p:cNvSpPr txBox="1"/>
          <p:nvPr/>
        </p:nvSpPr>
        <p:spPr>
          <a:xfrm>
            <a:off x="457200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 el texto en piezas (tokens)</a:t>
            </a:r>
            <a:endParaRPr lang="en-US" sz="1400" dirty="0"/>
          </a:p>
        </p:txBody>
      </p:sp>
      <p:sp>
        <p:nvSpPr>
          <p:cNvPr id="7" name="tarjeta-198"/>
          <p:cNvSpPr/>
          <p:nvPr/>
        </p:nvSpPr>
        <p:spPr>
          <a:xfrm>
            <a:off x="2587752" y="128016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8" name="texto-199"/>
          <p:cNvSpPr txBox="1"/>
          <p:nvPr/>
        </p:nvSpPr>
        <p:spPr>
          <a:xfrm>
            <a:off x="2587752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Sintáctico</a:t>
            </a:r>
            <a:endParaRPr lang="en-US" sz="1700" dirty="0"/>
          </a:p>
        </p:txBody>
      </p:sp>
      <p:sp>
        <p:nvSpPr>
          <p:cNvPr id="9" name="texto-200"/>
          <p:cNvSpPr txBox="1"/>
          <p:nvPr/>
        </p:nvSpPr>
        <p:spPr>
          <a:xfrm>
            <a:off x="4416552" y="1280160"/>
            <a:ext cx="301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o-201"/>
          <p:cNvSpPr txBox="1"/>
          <p:nvPr/>
        </p:nvSpPr>
        <p:spPr>
          <a:xfrm>
            <a:off x="2587752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Revisa el orden y arma un árbol (AST)</a:t>
            </a:r>
            <a:endParaRPr lang="en-US" sz="1400" dirty="0"/>
          </a:p>
        </p:txBody>
      </p:sp>
      <p:sp>
        <p:nvSpPr>
          <p:cNvPr id="11" name="tarjeta-202"/>
          <p:cNvSpPr/>
          <p:nvPr/>
        </p:nvSpPr>
        <p:spPr>
          <a:xfrm>
            <a:off x="4718304" y="128016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12" name="texto-203"/>
          <p:cNvSpPr txBox="1"/>
          <p:nvPr/>
        </p:nvSpPr>
        <p:spPr>
          <a:xfrm>
            <a:off x="4718304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Semántico</a:t>
            </a:r>
            <a:endParaRPr lang="en-US" sz="1700" dirty="0"/>
          </a:p>
        </p:txBody>
      </p:sp>
      <p:sp>
        <p:nvSpPr>
          <p:cNvPr id="13" name="texto-204"/>
          <p:cNvSpPr txBox="1"/>
          <p:nvPr/>
        </p:nvSpPr>
        <p:spPr>
          <a:xfrm>
            <a:off x="6547104" y="1280160"/>
            <a:ext cx="301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o-205"/>
          <p:cNvSpPr txBox="1"/>
          <p:nvPr/>
        </p:nvSpPr>
        <p:spPr>
          <a:xfrm>
            <a:off x="4718304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Revisa que tenga sentido (tabla de símbolos)</a:t>
            </a:r>
            <a:endParaRPr lang="en-US" sz="1400" dirty="0"/>
          </a:p>
        </p:txBody>
      </p:sp>
      <p:sp>
        <p:nvSpPr>
          <p:cNvPr id="15" name="tarjeta-206"/>
          <p:cNvSpPr/>
          <p:nvPr/>
        </p:nvSpPr>
        <p:spPr>
          <a:xfrm>
            <a:off x="6848856" y="128016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16" name="texto-207"/>
          <p:cNvSpPr txBox="1"/>
          <p:nvPr/>
        </p:nvSpPr>
        <p:spPr>
          <a:xfrm>
            <a:off x="6848856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Ejecución</a:t>
            </a:r>
            <a:endParaRPr lang="en-US" sz="1700" dirty="0"/>
          </a:p>
        </p:txBody>
      </p:sp>
      <p:sp>
        <p:nvSpPr>
          <p:cNvPr id="17" name="texto-208"/>
          <p:cNvSpPr txBox="1"/>
          <p:nvPr/>
        </p:nvSpPr>
        <p:spPr>
          <a:xfrm>
            <a:off x="6848856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 el programa y muestra el resultado</a:t>
            </a:r>
            <a:endParaRPr lang="en-US" sz="1400" dirty="0"/>
          </a:p>
        </p:txBody>
      </p:sp>
      <p:sp>
        <p:nvSpPr>
          <p:cNvPr id="18" name="tarjeta-209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circulo-210"/>
          <p:cNvSpPr/>
          <p:nvPr/>
        </p:nvSpPr>
        <p:spPr>
          <a:xfrm>
            <a:off x="658368" y="3566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circulo-texto-211"/>
          <p:cNvSpPr txBox="1"/>
          <p:nvPr/>
        </p:nvSpPr>
        <p:spPr>
          <a:xfrm>
            <a:off x="658368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1" name="texto-212"/>
          <p:cNvSpPr txBox="1"/>
          <p:nvPr/>
        </p:nvSpPr>
        <p:spPr>
          <a:xfrm>
            <a:off x="1325880" y="333756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una fase encuentra un error, se detiene y el programa no se ejecuta. Para ver el trabajo de cada fase, ejecuta el programa con -f.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Resumen</a:t>
            </a:r>
            <a:endParaRPr lang="en-US" sz="3200" dirty="0"/>
          </a:p>
        </p:txBody>
      </p:sp>
      <p:sp>
        <p:nvSpPr>
          <p:cNvPr id="3" name="texto-213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Instrucciones</a:t>
            </a:r>
            <a:endParaRPr lang="en-US" sz="1600" dirty="0"/>
          </a:p>
        </p:txBody>
      </p:sp>
      <p:sp>
        <p:nvSpPr>
          <p:cNvPr id="4" name="codigo-fondo-214"/>
          <p:cNvSpPr/>
          <p:nvPr/>
        </p:nvSpPr>
        <p:spPr>
          <a:xfrm>
            <a:off x="457200" y="150876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" name="codigo-215"/>
          <p:cNvSpPr txBox="1"/>
          <p:nvPr/>
        </p:nvSpPr>
        <p:spPr>
          <a:xfrm>
            <a:off x="621792" y="1508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fijate que x es 5</a:t>
            </a:r>
            <a:endParaRPr lang="en-US" sz="1300" dirty="0"/>
          </a:p>
        </p:txBody>
      </p:sp>
      <p:sp>
        <p:nvSpPr>
          <p:cNvPr id="6" name="texto-216"/>
          <p:cNvSpPr txBox="1"/>
          <p:nvPr/>
        </p:nvSpPr>
        <p:spPr>
          <a:xfrm>
            <a:off x="324612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Crear</a:t>
            </a:r>
            <a:endParaRPr lang="en-US" sz="1400" dirty="0"/>
          </a:p>
        </p:txBody>
      </p:sp>
      <p:sp>
        <p:nvSpPr>
          <p:cNvPr id="7" name="codigo-fondo-217"/>
          <p:cNvSpPr/>
          <p:nvPr/>
        </p:nvSpPr>
        <p:spPr>
          <a:xfrm>
            <a:off x="457200" y="219456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8" name="codigo-218"/>
          <p:cNvSpPr txBox="1"/>
          <p:nvPr/>
        </p:nvSpPr>
        <p:spPr>
          <a:xfrm>
            <a:off x="621792" y="21945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ponele 6 a x</a:t>
            </a:r>
            <a:endParaRPr lang="en-US" sz="1300" dirty="0"/>
          </a:p>
        </p:txBody>
      </p:sp>
      <p:sp>
        <p:nvSpPr>
          <p:cNvPr id="9" name="texto-219"/>
          <p:cNvSpPr txBox="1"/>
          <p:nvPr/>
        </p:nvSpPr>
        <p:spPr>
          <a:xfrm>
            <a:off x="3246120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Cambiar</a:t>
            </a:r>
            <a:endParaRPr lang="en-US" sz="1400" dirty="0"/>
          </a:p>
        </p:txBody>
      </p:sp>
      <p:sp>
        <p:nvSpPr>
          <p:cNvPr id="10" name="codigo-fondo-220"/>
          <p:cNvSpPr/>
          <p:nvPr/>
        </p:nvSpPr>
        <p:spPr>
          <a:xfrm>
            <a:off x="457200" y="288036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1" name="codigo-221"/>
          <p:cNvSpPr txBox="1"/>
          <p:nvPr/>
        </p:nvSpPr>
        <p:spPr>
          <a:xfrm>
            <a:off x="621792" y="28803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onda x</a:t>
            </a:r>
            <a:endParaRPr lang="en-US" sz="1300" dirty="0"/>
          </a:p>
        </p:txBody>
      </p:sp>
      <p:sp>
        <p:nvSpPr>
          <p:cNvPr id="12" name="texto-222"/>
          <p:cNvSpPr txBox="1"/>
          <p:nvPr/>
        </p:nvSpPr>
        <p:spPr>
          <a:xfrm>
            <a:off x="324612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 el tipo</a:t>
            </a:r>
            <a:endParaRPr lang="en-US" sz="1400" dirty="0"/>
          </a:p>
        </p:txBody>
      </p:sp>
      <p:sp>
        <p:nvSpPr>
          <p:cNvPr id="13" name="codigo-fondo-223"/>
          <p:cNvSpPr/>
          <p:nvPr/>
        </p:nvSpPr>
        <p:spPr>
          <a:xfrm>
            <a:off x="457200" y="356616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4" name="codigo-224"/>
          <p:cNvSpPr txBox="1"/>
          <p:nvPr/>
        </p:nvSpPr>
        <p:spPr>
          <a:xfrm>
            <a:off x="621792" y="3566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texto</a:t>
            </a:r>
            <a:endParaRPr lang="en-US" sz="1300" dirty="0"/>
          </a:p>
        </p:txBody>
      </p:sp>
      <p:sp>
        <p:nvSpPr>
          <p:cNvPr id="15" name="texto-225"/>
          <p:cNvSpPr txBox="1"/>
          <p:nvPr/>
        </p:nvSpPr>
        <p:spPr>
          <a:xfrm>
            <a:off x="324612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Comentario</a:t>
            </a:r>
            <a:endParaRPr lang="en-US" sz="1400" dirty="0"/>
          </a:p>
        </p:txBody>
      </p:sp>
      <p:sp>
        <p:nvSpPr>
          <p:cNvPr id="16" name="texto-226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Comandos</a:t>
            </a:r>
            <a:endParaRPr lang="en-US" sz="1600" dirty="0"/>
          </a:p>
        </p:txBody>
      </p:sp>
      <p:sp>
        <p:nvSpPr>
          <p:cNvPr id="17" name="codigo-fondo-227"/>
          <p:cNvSpPr/>
          <p:nvPr/>
        </p:nvSpPr>
        <p:spPr>
          <a:xfrm>
            <a:off x="4754880" y="150876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8" name="codigo-228"/>
          <p:cNvSpPr txBox="1"/>
          <p:nvPr/>
        </p:nvSpPr>
        <p:spPr>
          <a:xfrm>
            <a:off x="4919472" y="15087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endParaRPr lang="en-US" sz="1200" dirty="0"/>
          </a:p>
        </p:txBody>
      </p:sp>
      <p:sp>
        <p:nvSpPr>
          <p:cNvPr id="19" name="texto-229"/>
          <p:cNvSpPr txBox="1"/>
          <p:nvPr/>
        </p:nvSpPr>
        <p:spPr>
          <a:xfrm>
            <a:off x="708660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Compilar (una vez)</a:t>
            </a:r>
            <a:endParaRPr lang="en-US" sz="1400" dirty="0"/>
          </a:p>
        </p:txBody>
      </p:sp>
      <p:sp>
        <p:nvSpPr>
          <p:cNvPr id="20" name="codigo-fondo-230"/>
          <p:cNvSpPr/>
          <p:nvPr/>
        </p:nvSpPr>
        <p:spPr>
          <a:xfrm>
            <a:off x="4754880" y="219456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1" name="codigo-231"/>
          <p:cNvSpPr txBox="1"/>
          <p:nvPr/>
        </p:nvSpPr>
        <p:spPr>
          <a:xfrm>
            <a:off x="4919472" y="21945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./rp archivo.rp</a:t>
            </a:r>
            <a:endParaRPr lang="en-US" sz="1200" dirty="0"/>
          </a:p>
        </p:txBody>
      </p:sp>
      <p:sp>
        <p:nvSpPr>
          <p:cNvPr id="22" name="texto-232"/>
          <p:cNvSpPr txBox="1"/>
          <p:nvPr/>
        </p:nvSpPr>
        <p:spPr>
          <a:xfrm>
            <a:off x="70866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 el resultado</a:t>
            </a:r>
            <a:endParaRPr lang="en-US" sz="1400" dirty="0"/>
          </a:p>
        </p:txBody>
      </p:sp>
      <p:sp>
        <p:nvSpPr>
          <p:cNvPr id="23" name="codigo-fondo-233"/>
          <p:cNvSpPr/>
          <p:nvPr/>
        </p:nvSpPr>
        <p:spPr>
          <a:xfrm>
            <a:off x="4754880" y="288036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4" name="codigo-234"/>
          <p:cNvSpPr txBox="1"/>
          <p:nvPr/>
        </p:nvSpPr>
        <p:spPr>
          <a:xfrm>
            <a:off x="4919472" y="28803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./rp archivo.rp -f</a:t>
            </a:r>
            <a:endParaRPr lang="en-US" sz="1200" dirty="0"/>
          </a:p>
        </p:txBody>
      </p:sp>
      <p:sp>
        <p:nvSpPr>
          <p:cNvPr id="25" name="texto-235"/>
          <p:cNvSpPr txBox="1"/>
          <p:nvPr/>
        </p:nvSpPr>
        <p:spPr>
          <a:xfrm>
            <a:off x="708660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 todas las fases</a:t>
            </a:r>
            <a:endParaRPr lang="en-US" sz="1400" dirty="0"/>
          </a:p>
        </p:txBody>
      </p:sp>
      <p:sp>
        <p:nvSpPr>
          <p:cNvPr id="26" name="codigo-fondo-236"/>
          <p:cNvSpPr/>
          <p:nvPr/>
        </p:nvSpPr>
        <p:spPr>
          <a:xfrm>
            <a:off x="4754880" y="356616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7" name="codigo-237"/>
          <p:cNvSpPr txBox="1"/>
          <p:nvPr/>
        </p:nvSpPr>
        <p:spPr>
          <a:xfrm>
            <a:off x="4919472" y="35661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./rp -i</a:t>
            </a:r>
            <a:endParaRPr lang="en-US" sz="1200" dirty="0"/>
          </a:p>
        </p:txBody>
      </p:sp>
      <p:sp>
        <p:nvSpPr>
          <p:cNvPr id="28" name="texto-238"/>
          <p:cNvSpPr txBox="1"/>
          <p:nvPr/>
        </p:nvSpPr>
        <p:spPr>
          <a:xfrm>
            <a:off x="708660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Modo interactivo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F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¡A programar en RP!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Más detalles en el archivo README.md del proyecto</a:t>
            </a:r>
            <a:endParaRPr lang="en-US" sz="2000" dirty="0"/>
          </a:p>
        </p:txBody>
      </p:sp>
      <p:pic>
        <p:nvPicPr>
          <p:cNvPr id="4" name="logo-cierre" descr="/Users/rxul/dev/lenguaje-rp-c/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344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P Chapin">
  <a:themeElements>
    <a:clrScheme name="RP Chapin">
      <a:dk1>
        <a:srgbClr val="1B1F1E"/>
      </a:dk1>
      <a:lt1>
        <a:srgbClr val="FFFFFF"/>
      </a:lt1>
      <a:dk2>
        <a:srgbClr val="0F3D3E"/>
      </a:dk2>
      <a:lt2>
        <a:srgbClr val="EAF2EF"/>
      </a:lt2>
      <a:accent1>
        <a:srgbClr val="F2B705"/>
      </a:accent1>
      <a:accent2>
        <a:srgbClr val="1F7A6B"/>
      </a:accent2>
      <a:accent3>
        <a:srgbClr val="C8553D"/>
      </a:accent3>
      <a:accent4>
        <a:srgbClr val="5E7F77"/>
      </a:accent4>
      <a:accent5>
        <a:srgbClr val="2E4057"/>
      </a:accent5>
      <a:accent6>
        <a:srgbClr val="A9CBBF"/>
      </a:accent6>
      <a:hlink>
        <a:srgbClr val="1F7A6B"/>
      </a:hlink>
      <a:folHlink>
        <a:srgbClr val="5E7F77"/>
      </a:folHlink>
    </a:clrScheme>
    <a:fontScheme name="RP Chap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 RP: guía rápida</dc:title>
  <dc:subject>PptxGenJS Presentation</dc:subject>
  <dc:creator>PptxGenJS</dc:creator>
  <cp:lastModifiedBy>PptxGenJS</cp:lastModifiedBy>
  <cp:revision>1</cp:revision>
  <dcterms:created xsi:type="dcterms:W3CDTF">2026-10-09T00:31:07Z</dcterms:created>
  <dcterms:modified xsi:type="dcterms:W3CDTF">2026-10-09T00:31:07Z</dcterms:modified>
</cp:coreProperties>
</file>